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77" d="100"/>
          <a:sy n="77" d="100"/>
        </p:scale>
        <p:origin x="86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36B51-2508-6F2B-ADC4-05013B7934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ED8E67-15E8-F9F7-C586-D2F1DCF6E5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2C45A2-1F99-5608-6B36-4061D5D67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D8EF9-6082-30F7-CF11-D6093A3D1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1B4D1-FCDB-C938-018F-F36433FD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5718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5B549-561B-32F0-9F9F-4AC292ABD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111B9-ED73-9E35-D490-B8C22DFB1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B9E90-970B-8725-CD1F-450E8401D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790F2-4212-ACB9-B6B4-63E56985C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54DA3-A7EF-C97A-5941-7E70D13F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3617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73F45-A7F3-E1F0-B423-99EAF859A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3C00E-D67A-55C2-FDE9-D59CBCB6A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40007-45F9-7750-1DF2-2F0121509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373B4-1235-CAC8-BC1C-5B80A6DD4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A542C-72AF-6DCD-DA7F-53D55D5C9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5735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D2C67-46DD-ACDB-2F74-BB607085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88FCC-EB83-B14E-4A02-1819A04F2A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8D74A7-F882-DAF3-F14C-F808EFEA11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450251-EB43-ED35-29A2-EE8934F14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8E496-0A55-64A3-E289-0BB5E3764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A2220-556E-9DDF-E803-38283B85E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42878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B214F-A22D-DFEC-493D-6747FC250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DC67F-41B3-B68F-BB31-4DBC5B4495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E6208-B0E3-B4D1-A0A2-8D57B328F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530E7D-4131-BF0F-1754-2A8B63161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578E13-032B-AA96-5B4D-9E9AC5662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68A600-8C67-7881-A0E5-001875BA8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1964D0-DCDF-BA48-E79C-BDDD08D8B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FF8716-705D-6150-EA9D-D5967F054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10987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403D8-1448-2D42-CB37-09B1539B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4C8343-22B4-A31B-F718-4DB108F56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A34277-831B-F55C-3743-C20B4CC0E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6AEBE-EE23-FE36-37E3-32CD0B8FE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68619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08305D-058F-1E90-50F2-0923DA741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53E291-9E36-0F81-8238-658A0D379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93857-DAD7-BB7D-7D44-5CE271BBD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94773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DB631-098D-01EC-0016-994F267A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7530B-EB73-F169-F63A-9B4DF9C9C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7D8417-A353-AF00-7781-590A2DC947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F8C06-A9F2-5B2D-A8D2-C46BB63BB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F222A-BD63-DE17-6F54-0B85006C8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4650F6-CEF4-DCCC-11AD-B26105DFC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3720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4E65B-402E-AFE2-FCCB-F61A2675E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D235F7-D833-5D38-2E94-C3E832A69B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037C-D73D-700A-F737-99EE599CC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2418F4-35A8-CBDB-B686-5AB760FC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9703B5-2014-5F80-9E86-175A5D7BB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CCCF69-4629-B828-05FA-A4111524B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71023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13453-F04D-8930-7DDB-602C6055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DB9BDD-7F05-25D8-4C6C-7BED7DBCD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3714D-BB42-3FEB-9699-B076E7955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DDEC2-C8E9-2529-E85E-2636ADBB8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8F9FB6-C81A-A67C-1285-D7BB901EA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42432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598BF0-0FED-B8E8-94B4-158B88EC0B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3768BC-0B77-ADDD-E70D-4EAB0F07B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70810E-D4B8-F487-E3D1-409E3335F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7F4F8-0504-AA7D-D69D-A036C8734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6E88F-7D54-C9DC-ECA3-FDAB62F6C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3271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0FA4B0-F0A3-FA6D-CFE4-90F6B8A52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B6180-6C28-5F44-0898-E2D6676EF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9571F-E29E-2C98-4887-2132417608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0E5D01-44FA-40AF-8633-6FC63E8CF416}" type="datetimeFigureOut">
              <a:rPr lang="en-BE" smtClean="0"/>
              <a:t>10/03/2026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D14DC-9602-FD53-3B91-A18441BC35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42810-5D77-DA0D-ACA2-01C23C4E28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8128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perdon/Bricks-Worksho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A6C4A-47C8-6F39-2A2E-B4797272CB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Don’t Reinvent the Brick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12BD2D-2E62-6FEA-E63D-56F4D4CFAA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Reusable Libraries in .NET</a:t>
            </a:r>
            <a:endParaRPr lang="en-BE" dirty="0"/>
          </a:p>
        </p:txBody>
      </p:sp>
      <p:sp>
        <p:nvSpPr>
          <p:cNvPr id="4" name="AutoShape 2" descr="Generated image">
            <a:extLst>
              <a:ext uri="{FF2B5EF4-FFF2-40B4-BE49-F238E27FC236}">
                <a16:creationId xmlns:a16="http://schemas.microsoft.com/office/drawing/2014/main" id="{4677A0E6-6450-0AEE-CE87-88934CA804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33554" y="3276600"/>
            <a:ext cx="1748672" cy="1748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6C685D4-9C4E-553F-3296-441ECBB5C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4D922B-0D97-3291-F35D-8878AFCE9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12" y="4685505"/>
            <a:ext cx="1400175" cy="210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49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A4F1FFA-2FC0-7577-C246-94B0F4603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10" y="1382889"/>
            <a:ext cx="3050165" cy="4306711"/>
          </a:xfrm>
          <a:prstGeom prst="rect">
            <a:avLst/>
          </a:prstGeom>
        </p:spPr>
      </p:pic>
      <p:sp>
        <p:nvSpPr>
          <p:cNvPr id="10" name="Dodecagon 9">
            <a:extLst>
              <a:ext uri="{FF2B5EF4-FFF2-40B4-BE49-F238E27FC236}">
                <a16:creationId xmlns:a16="http://schemas.microsoft.com/office/drawing/2014/main" id="{C7D3DD32-FA04-A2C2-ACA8-EB013CBA1393}"/>
              </a:ext>
            </a:extLst>
          </p:cNvPr>
          <p:cNvSpPr/>
          <p:nvPr/>
        </p:nvSpPr>
        <p:spPr>
          <a:xfrm>
            <a:off x="5066929" y="3215862"/>
            <a:ext cx="1079168" cy="10747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FBZ</a:t>
            </a:r>
          </a:p>
          <a:p>
            <a:pPr algn="ctr"/>
            <a:r>
              <a:rPr lang="en-US" dirty="0"/>
              <a:t>?</a:t>
            </a:r>
            <a:endParaRPr lang="en-BE" dirty="0"/>
          </a:p>
        </p:txBody>
      </p:sp>
      <p:sp>
        <p:nvSpPr>
          <p:cNvPr id="11" name="Dodecagon 10">
            <a:extLst>
              <a:ext uri="{FF2B5EF4-FFF2-40B4-BE49-F238E27FC236}">
                <a16:creationId xmlns:a16="http://schemas.microsoft.com/office/drawing/2014/main" id="{3008E3E8-3D57-EBFB-3B85-B1B3DE72F6A8}"/>
              </a:ext>
            </a:extLst>
          </p:cNvPr>
          <p:cNvSpPr/>
          <p:nvPr/>
        </p:nvSpPr>
        <p:spPr>
          <a:xfrm>
            <a:off x="6026968" y="1855304"/>
            <a:ext cx="1397562" cy="1239077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FBZ</a:t>
            </a:r>
          </a:p>
          <a:p>
            <a:pPr algn="ctr"/>
            <a:r>
              <a:rPr lang="en-US" sz="2400" dirty="0"/>
              <a:t>Core?</a:t>
            </a:r>
            <a:endParaRPr lang="en-BE" sz="2400" dirty="0"/>
          </a:p>
        </p:txBody>
      </p:sp>
      <p:sp>
        <p:nvSpPr>
          <p:cNvPr id="12" name="Dodecagon 11">
            <a:extLst>
              <a:ext uri="{FF2B5EF4-FFF2-40B4-BE49-F238E27FC236}">
                <a16:creationId xmlns:a16="http://schemas.microsoft.com/office/drawing/2014/main" id="{20B5A7C9-9176-C6DE-FDDD-FB8E89C952EA}"/>
              </a:ext>
            </a:extLst>
          </p:cNvPr>
          <p:cNvSpPr/>
          <p:nvPr/>
        </p:nvSpPr>
        <p:spPr>
          <a:xfrm>
            <a:off x="7424530" y="706230"/>
            <a:ext cx="1691243" cy="162228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Bricks</a:t>
            </a:r>
          </a:p>
          <a:p>
            <a:pPr algn="ctr"/>
            <a:r>
              <a:rPr lang="en-US" sz="2800" dirty="0"/>
              <a:t>?</a:t>
            </a:r>
            <a:endParaRPr lang="en-BE" sz="2800" dirty="0"/>
          </a:p>
        </p:txBody>
      </p:sp>
      <p:sp>
        <p:nvSpPr>
          <p:cNvPr id="13" name="Dodecagon 12">
            <a:extLst>
              <a:ext uri="{FF2B5EF4-FFF2-40B4-BE49-F238E27FC236}">
                <a16:creationId xmlns:a16="http://schemas.microsoft.com/office/drawing/2014/main" id="{182DE05A-A2A4-AEFC-8FB5-C63DBCEC4B39}"/>
              </a:ext>
            </a:extLst>
          </p:cNvPr>
          <p:cNvSpPr/>
          <p:nvPr/>
        </p:nvSpPr>
        <p:spPr>
          <a:xfrm>
            <a:off x="9775270" y="431801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Persons</a:t>
            </a:r>
            <a:endParaRPr lang="en-BE" dirty="0"/>
          </a:p>
        </p:txBody>
      </p:sp>
      <p:sp>
        <p:nvSpPr>
          <p:cNvPr id="14" name="Dodecagon 13">
            <a:extLst>
              <a:ext uri="{FF2B5EF4-FFF2-40B4-BE49-F238E27FC236}">
                <a16:creationId xmlns:a16="http://schemas.microsoft.com/office/drawing/2014/main" id="{559F21BF-5815-660F-E84A-1A8B08E00933}"/>
              </a:ext>
            </a:extLst>
          </p:cNvPr>
          <p:cNvSpPr/>
          <p:nvPr/>
        </p:nvSpPr>
        <p:spPr>
          <a:xfrm>
            <a:off x="9775270" y="1453322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Companies</a:t>
            </a:r>
            <a:endParaRPr lang="en-BE" dirty="0"/>
          </a:p>
        </p:txBody>
      </p:sp>
      <p:sp>
        <p:nvSpPr>
          <p:cNvPr id="15" name="Dodecagon 14">
            <a:extLst>
              <a:ext uri="{FF2B5EF4-FFF2-40B4-BE49-F238E27FC236}">
                <a16:creationId xmlns:a16="http://schemas.microsoft.com/office/drawing/2014/main" id="{C087F2B5-CFA9-6411-12C8-A65F8FD44C90}"/>
              </a:ext>
            </a:extLst>
          </p:cNvPr>
          <p:cNvSpPr/>
          <p:nvPr/>
        </p:nvSpPr>
        <p:spPr>
          <a:xfrm>
            <a:off x="9775270" y="2474843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 err="1"/>
              <a:t>Dmfa</a:t>
            </a:r>
            <a:endParaRPr lang="en-BE" dirty="0"/>
          </a:p>
        </p:txBody>
      </p:sp>
      <p:sp>
        <p:nvSpPr>
          <p:cNvPr id="16" name="Dodecagon 15">
            <a:extLst>
              <a:ext uri="{FF2B5EF4-FFF2-40B4-BE49-F238E27FC236}">
                <a16:creationId xmlns:a16="http://schemas.microsoft.com/office/drawing/2014/main" id="{2C4404B3-F22F-8DD8-C45F-05EC0C65D9D8}"/>
              </a:ext>
            </a:extLst>
          </p:cNvPr>
          <p:cNvSpPr/>
          <p:nvPr/>
        </p:nvSpPr>
        <p:spPr>
          <a:xfrm>
            <a:off x="9843251" y="3496364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…</a:t>
            </a:r>
            <a:endParaRPr lang="en-BE" dirty="0"/>
          </a:p>
        </p:txBody>
      </p:sp>
      <p:sp>
        <p:nvSpPr>
          <p:cNvPr id="17" name="Dodecagon 16">
            <a:extLst>
              <a:ext uri="{FF2B5EF4-FFF2-40B4-BE49-F238E27FC236}">
                <a16:creationId xmlns:a16="http://schemas.microsoft.com/office/drawing/2014/main" id="{335F852C-FD98-6108-A6B8-35ED6416AB25}"/>
              </a:ext>
            </a:extLst>
          </p:cNvPr>
          <p:cNvSpPr/>
          <p:nvPr/>
        </p:nvSpPr>
        <p:spPr>
          <a:xfrm>
            <a:off x="9843251" y="4508496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Payments</a:t>
            </a:r>
            <a:endParaRPr lang="en-BE" dirty="0"/>
          </a:p>
        </p:txBody>
      </p:sp>
      <p:sp>
        <p:nvSpPr>
          <p:cNvPr id="18" name="Dodecagon 17">
            <a:extLst>
              <a:ext uri="{FF2B5EF4-FFF2-40B4-BE49-F238E27FC236}">
                <a16:creationId xmlns:a16="http://schemas.microsoft.com/office/drawing/2014/main" id="{F0038C93-E2DC-CA17-AD3C-B1B070D33757}"/>
              </a:ext>
            </a:extLst>
          </p:cNvPr>
          <p:cNvSpPr/>
          <p:nvPr/>
        </p:nvSpPr>
        <p:spPr>
          <a:xfrm>
            <a:off x="9843251" y="5520628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Documents</a:t>
            </a:r>
            <a:endParaRPr lang="en-B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96D6C79-CED5-3657-78DF-6D733728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712" y="3992064"/>
            <a:ext cx="942975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169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EAAE9-D4C7-0B52-142C-309117DBB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Reusable libraries ~ CBSS Person Brick</a:t>
            </a:r>
            <a:endParaRPr lang="en-BE" dirty="0"/>
          </a:p>
        </p:txBody>
      </p:sp>
      <p:sp>
        <p:nvSpPr>
          <p:cNvPr id="3" name="Dodecagon 2">
            <a:extLst>
              <a:ext uri="{FF2B5EF4-FFF2-40B4-BE49-F238E27FC236}">
                <a16:creationId xmlns:a16="http://schemas.microsoft.com/office/drawing/2014/main" id="{A04EC2E3-7EDE-4DB4-14E4-899650B918BD}"/>
              </a:ext>
            </a:extLst>
          </p:cNvPr>
          <p:cNvSpPr/>
          <p:nvPr/>
        </p:nvSpPr>
        <p:spPr>
          <a:xfrm>
            <a:off x="8929602" y="2823211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Platform</a:t>
            </a:r>
          </a:p>
          <a:p>
            <a:pPr algn="ctr"/>
            <a:r>
              <a:rPr lang="en-US" dirty="0"/>
              <a:t>independent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9A4EDD-8461-D77F-0480-AC8E565139B3}"/>
              </a:ext>
            </a:extLst>
          </p:cNvPr>
          <p:cNvSpPr txBox="1"/>
          <p:nvPr/>
        </p:nvSpPr>
        <p:spPr>
          <a:xfrm>
            <a:off x="1013791" y="1868556"/>
            <a:ext cx="467139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Fetching xml or zip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Correct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Strict sequential in order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Correct processing and interpretation (</a:t>
            </a:r>
            <a:r>
              <a:rPr lang="en-US" u="sng" dirty="0"/>
              <a:t>very</a:t>
            </a:r>
            <a:r>
              <a:rPr lang="en-US" dirty="0"/>
              <a:t> complex)!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interface for get / find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Dodecagon 4">
            <a:extLst>
              <a:ext uri="{FF2B5EF4-FFF2-40B4-BE49-F238E27FC236}">
                <a16:creationId xmlns:a16="http://schemas.microsoft.com/office/drawing/2014/main" id="{FC32DE57-97FB-36F9-0504-640EF83BCAD0}"/>
              </a:ext>
            </a:extLst>
          </p:cNvPr>
          <p:cNvSpPr/>
          <p:nvPr/>
        </p:nvSpPr>
        <p:spPr>
          <a:xfrm>
            <a:off x="6184495" y="1645538"/>
            <a:ext cx="2625452" cy="907222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</a:t>
            </a:r>
          </a:p>
          <a:p>
            <a:pPr algn="ctr"/>
            <a:r>
              <a:rPr lang="en-US" dirty="0"/>
              <a:t>implementation</a:t>
            </a:r>
            <a:endParaRPr lang="en-BE" dirty="0"/>
          </a:p>
        </p:txBody>
      </p:sp>
      <p:sp>
        <p:nvSpPr>
          <p:cNvPr id="6" name="Dodecagon 5">
            <a:extLst>
              <a:ext uri="{FF2B5EF4-FFF2-40B4-BE49-F238E27FC236}">
                <a16:creationId xmlns:a16="http://schemas.microsoft.com/office/drawing/2014/main" id="{F5226783-8041-C569-E9F3-623875987F08}"/>
              </a:ext>
            </a:extLst>
          </p:cNvPr>
          <p:cNvSpPr/>
          <p:nvPr/>
        </p:nvSpPr>
        <p:spPr>
          <a:xfrm>
            <a:off x="6096000" y="3078369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Persistence</a:t>
            </a:r>
          </a:p>
          <a:p>
            <a:pPr algn="ctr"/>
            <a:r>
              <a:rPr lang="en-US" dirty="0"/>
              <a:t>EF vs ?</a:t>
            </a:r>
            <a:endParaRPr lang="en-BE" dirty="0"/>
          </a:p>
        </p:txBody>
      </p:sp>
      <p:sp>
        <p:nvSpPr>
          <p:cNvPr id="7" name="Dodecagon 6">
            <a:extLst>
              <a:ext uri="{FF2B5EF4-FFF2-40B4-BE49-F238E27FC236}">
                <a16:creationId xmlns:a16="http://schemas.microsoft.com/office/drawing/2014/main" id="{BCED6DD9-DF3D-FC31-39B4-3A36587C30D6}"/>
              </a:ext>
            </a:extLst>
          </p:cNvPr>
          <p:cNvSpPr/>
          <p:nvPr/>
        </p:nvSpPr>
        <p:spPr>
          <a:xfrm>
            <a:off x="9426505" y="3987549"/>
            <a:ext cx="2625452" cy="907222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Provide your own</a:t>
            </a:r>
          </a:p>
          <a:p>
            <a:pPr algn="ctr"/>
            <a:r>
              <a:rPr lang="en-US" dirty="0"/>
              <a:t>implementation</a:t>
            </a:r>
            <a:endParaRPr lang="en-BE" dirty="0"/>
          </a:p>
        </p:txBody>
      </p:sp>
      <p:sp>
        <p:nvSpPr>
          <p:cNvPr id="8" name="Dodecagon 7">
            <a:extLst>
              <a:ext uri="{FF2B5EF4-FFF2-40B4-BE49-F238E27FC236}">
                <a16:creationId xmlns:a16="http://schemas.microsoft.com/office/drawing/2014/main" id="{42513A14-4B04-C5A9-E10A-B9825D38571A}"/>
              </a:ext>
            </a:extLst>
          </p:cNvPr>
          <p:cNvSpPr/>
          <p:nvPr/>
        </p:nvSpPr>
        <p:spPr>
          <a:xfrm>
            <a:off x="9078222" y="5524623"/>
            <a:ext cx="2840800" cy="1090615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Support any form of background</a:t>
            </a:r>
          </a:p>
          <a:p>
            <a:pPr algn="ctr"/>
            <a:r>
              <a:rPr lang="en-US" dirty="0"/>
              <a:t>processing</a:t>
            </a:r>
            <a:endParaRPr lang="en-BE" dirty="0"/>
          </a:p>
        </p:txBody>
      </p:sp>
      <p:sp>
        <p:nvSpPr>
          <p:cNvPr id="9" name="Dodecagon 8">
            <a:extLst>
              <a:ext uri="{FF2B5EF4-FFF2-40B4-BE49-F238E27FC236}">
                <a16:creationId xmlns:a16="http://schemas.microsoft.com/office/drawing/2014/main" id="{E489E606-5036-7D2B-8A32-87C3FB013A06}"/>
              </a:ext>
            </a:extLst>
          </p:cNvPr>
          <p:cNvSpPr/>
          <p:nvPr/>
        </p:nvSpPr>
        <p:spPr>
          <a:xfrm>
            <a:off x="9877222" y="1726058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Fetch from</a:t>
            </a:r>
          </a:p>
          <a:p>
            <a:pPr algn="ctr"/>
            <a:r>
              <a:rPr lang="en-US" dirty="0"/>
              <a:t>anywhere</a:t>
            </a:r>
            <a:endParaRPr lang="en-BE" dirty="0"/>
          </a:p>
        </p:txBody>
      </p:sp>
      <p:sp>
        <p:nvSpPr>
          <p:cNvPr id="10" name="Dodecagon 9">
            <a:extLst>
              <a:ext uri="{FF2B5EF4-FFF2-40B4-BE49-F238E27FC236}">
                <a16:creationId xmlns:a16="http://schemas.microsoft.com/office/drawing/2014/main" id="{35A7726B-1AD4-426A-3978-094CD899A6B2}"/>
              </a:ext>
            </a:extLst>
          </p:cNvPr>
          <p:cNvSpPr/>
          <p:nvPr/>
        </p:nvSpPr>
        <p:spPr>
          <a:xfrm>
            <a:off x="6894688" y="3987549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Country NIS/ISO</a:t>
            </a:r>
            <a:endParaRPr lang="en-BE" dirty="0"/>
          </a:p>
        </p:txBody>
      </p:sp>
      <p:sp>
        <p:nvSpPr>
          <p:cNvPr id="11" name="Dodecagon 10">
            <a:extLst>
              <a:ext uri="{FF2B5EF4-FFF2-40B4-BE49-F238E27FC236}">
                <a16:creationId xmlns:a16="http://schemas.microsoft.com/office/drawing/2014/main" id="{92EFDE86-776D-154B-D774-95FB200CA984}"/>
              </a:ext>
            </a:extLst>
          </p:cNvPr>
          <p:cNvSpPr/>
          <p:nvPr/>
        </p:nvSpPr>
        <p:spPr>
          <a:xfrm>
            <a:off x="4620612" y="4476205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AuditLogs</a:t>
            </a:r>
            <a:endParaRPr lang="en-BE" dirty="0"/>
          </a:p>
        </p:txBody>
      </p:sp>
      <p:sp>
        <p:nvSpPr>
          <p:cNvPr id="12" name="Dodecagon 11">
            <a:extLst>
              <a:ext uri="{FF2B5EF4-FFF2-40B4-BE49-F238E27FC236}">
                <a16:creationId xmlns:a16="http://schemas.microsoft.com/office/drawing/2014/main" id="{C618AB66-FFDA-8895-6B12-48307F22A31C}"/>
              </a:ext>
            </a:extLst>
          </p:cNvPr>
          <p:cNvSpPr/>
          <p:nvPr/>
        </p:nvSpPr>
        <p:spPr>
          <a:xfrm>
            <a:off x="5685183" y="5958994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Notifications</a:t>
            </a:r>
            <a:endParaRPr lang="en-BE" dirty="0"/>
          </a:p>
        </p:txBody>
      </p:sp>
      <p:sp>
        <p:nvSpPr>
          <p:cNvPr id="13" name="Dodecagon 12">
            <a:extLst>
              <a:ext uri="{FF2B5EF4-FFF2-40B4-BE49-F238E27FC236}">
                <a16:creationId xmlns:a16="http://schemas.microsoft.com/office/drawing/2014/main" id="{7B43F79D-5CB0-74AE-05A8-E9C3BF14B215}"/>
              </a:ext>
            </a:extLst>
          </p:cNvPr>
          <p:cNvSpPr/>
          <p:nvPr/>
        </p:nvSpPr>
        <p:spPr>
          <a:xfrm>
            <a:off x="6942036" y="4872031"/>
            <a:ext cx="2625452" cy="967657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Track last fetched and last processed</a:t>
            </a:r>
            <a:endParaRPr lang="en-BE" dirty="0"/>
          </a:p>
        </p:txBody>
      </p:sp>
      <p:sp>
        <p:nvSpPr>
          <p:cNvPr id="14" name="Dodecagon 13">
            <a:extLst>
              <a:ext uri="{FF2B5EF4-FFF2-40B4-BE49-F238E27FC236}">
                <a16:creationId xmlns:a16="http://schemas.microsoft.com/office/drawing/2014/main" id="{0146A735-1D29-CE7C-11A9-D6BDA026075F}"/>
              </a:ext>
            </a:extLst>
          </p:cNvPr>
          <p:cNvSpPr/>
          <p:nvPr/>
        </p:nvSpPr>
        <p:spPr>
          <a:xfrm>
            <a:off x="3203717" y="5576406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Read vs Write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046091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8B2FB-8C55-1DBD-AA26-F932DCCCC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Reusable libraries ~ CBSS Person Brick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141B3-E59E-5277-F6B5-3D5A7FA59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4217" y="1501845"/>
            <a:ext cx="11247783" cy="631611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dirty="0" err="1">
                <a:latin typeface="Consolas" panose="020B0609020204030204" pitchFamily="49" charset="0"/>
              </a:rPr>
              <a:t>builder.Services.Add</a:t>
            </a:r>
            <a:r>
              <a:rPr lang="en-US" sz="1600" dirty="0" err="1">
                <a:latin typeface="Consolas" panose="020B0609020204030204" pitchFamily="49" charset="0"/>
              </a:rPr>
              <a:t>BricksCbssPersons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</a:t>
            </a:r>
            <a:r>
              <a:rPr lang="en-US" sz="1600" b="1" dirty="0">
                <a:latin typeface="Consolas" panose="020B0609020204030204" pitchFamily="49" charset="0"/>
              </a:rPr>
              <a:t>r</a:t>
            </a:r>
            <a:r>
              <a:rPr lang="en-US" sz="1600" dirty="0">
                <a:latin typeface="Consolas" panose="020B0609020204030204" pitchFamily="49" charset="0"/>
              </a:rPr>
              <a:t> =&gt; { </a:t>
            </a:r>
            <a:r>
              <a:rPr lang="en-US" sz="1600" dirty="0" err="1">
                <a:latin typeface="Consolas" panose="020B0609020204030204" pitchFamily="49" charset="0"/>
              </a:rPr>
              <a:t>r.UseReadStore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DefaultEntityFrameworkCbssPersonStore</a:t>
            </a:r>
            <a:r>
              <a:rPr lang="en-US" sz="1600" dirty="0">
                <a:latin typeface="Consolas" panose="020B0609020204030204" pitchFamily="49" charset="0"/>
              </a:rPr>
              <a:t>&gt;(); },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w =&gt; </a:t>
            </a:r>
            <a:r>
              <a:rPr lang="en-BE" sz="1600" dirty="0"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w.UseCountryStore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DefaultBricksCountryStore</a:t>
            </a:r>
            <a:r>
              <a:rPr lang="en-US" sz="1600" dirty="0">
                <a:latin typeface="Consolas" panose="020B0609020204030204" pitchFamily="49" charset="0"/>
              </a:rPr>
              <a:t>&gt;();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w.UseKeyValueStore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DefaultEntityFrameworkBricksKeyValueStore</a:t>
            </a:r>
            <a:r>
              <a:rPr lang="en-US" sz="1600" dirty="0">
                <a:latin typeface="Consolas" panose="020B0609020204030204" pitchFamily="49" charset="0"/>
              </a:rPr>
              <a:t>&gt;();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w.UseAuditLogStore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DefaultEntityFrameworkBricksAuditLogStore</a:t>
            </a:r>
            <a:r>
              <a:rPr lang="en-US" sz="1600" dirty="0">
                <a:latin typeface="Consolas" panose="020B0609020204030204" pitchFamily="49" charset="0"/>
              </a:rPr>
              <a:t>&gt;();</a:t>
            </a:r>
          </a:p>
          <a:p>
            <a:pPr marL="0" indent="0">
              <a:buNone/>
            </a:pPr>
            <a:r>
              <a:rPr lang="en-GB" sz="1600" dirty="0">
                <a:latin typeface="Consolas" panose="020B0609020204030204" pitchFamily="49" charset="0"/>
              </a:rPr>
              <a:t>        </a:t>
            </a:r>
            <a:r>
              <a:rPr lang="en-GB" sz="1600" dirty="0" err="1">
                <a:latin typeface="Consolas" panose="020B0609020204030204" pitchFamily="49" charset="0"/>
              </a:rPr>
              <a:t>w.UseDistributedLockStore</a:t>
            </a:r>
            <a:r>
              <a:rPr lang="en-GB" sz="1600" dirty="0">
                <a:latin typeface="Consolas" panose="020B0609020204030204" pitchFamily="49" charset="0"/>
              </a:rPr>
              <a:t>(</a:t>
            </a:r>
            <a:r>
              <a:rPr lang="en-GB" sz="1600" dirty="0" err="1">
                <a:latin typeface="Consolas" panose="020B0609020204030204" pitchFamily="49" charset="0"/>
              </a:rPr>
              <a:t>sp</a:t>
            </a:r>
            <a:r>
              <a:rPr lang="en-GB" sz="1600" dirty="0">
                <a:latin typeface="Consolas" panose="020B0609020204030204" pitchFamily="49" charset="0"/>
              </a:rPr>
              <a:t> =&gt; new </a:t>
            </a:r>
            <a:r>
              <a:rPr lang="en-GB" sz="1600" dirty="0" err="1">
                <a:latin typeface="Consolas" panose="020B0609020204030204" pitchFamily="49" charset="0"/>
              </a:rPr>
              <a:t>BricksSqlServerDistributedLockStore</a:t>
            </a:r>
            <a:r>
              <a:rPr lang="en-GB" sz="1600" dirty="0"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w.UseSystemTransactionScope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w.UseWriteStore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DefaultEntityFrameworkCbssPersonStore</a:t>
            </a:r>
            <a:r>
              <a:rPr lang="en-US" sz="1600" dirty="0">
                <a:latin typeface="Consolas" panose="020B0609020204030204" pitchFamily="49" charset="0"/>
              </a:rPr>
              <a:t>&gt;();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w.UseOriginalDataWriteStore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DefaultEntityFrameworkCbssPersonOriginalDataStore</a:t>
            </a:r>
            <a:r>
              <a:rPr lang="en-US" sz="1600" dirty="0">
                <a:latin typeface="Consolas" panose="020B0609020204030204" pitchFamily="49" charset="0"/>
              </a:rPr>
              <a:t>&gt;();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w.UseFetchOptions</a:t>
            </a:r>
            <a:r>
              <a:rPr lang="en-US" sz="1600" dirty="0">
                <a:latin typeface="Consolas" panose="020B0609020204030204" pitchFamily="49" charset="0"/>
              </a:rPr>
              <a:t>(new </a:t>
            </a:r>
            <a:r>
              <a:rPr lang="en-US" sz="1600" dirty="0" err="1">
                <a:latin typeface="Consolas" panose="020B0609020204030204" pitchFamily="49" charset="0"/>
              </a:rPr>
              <a:t>CbssPersonFetchOptions</a:t>
            </a:r>
            <a:r>
              <a:rPr lang="en-US" sz="1600" dirty="0">
                <a:latin typeface="Consolas" panose="020B0609020204030204" pitchFamily="49" charset="0"/>
              </a:rPr>
              <a:t> { </a:t>
            </a:r>
            <a:r>
              <a:rPr lang="en-US" sz="1600" dirty="0" err="1">
                <a:latin typeface="Consolas" panose="020B0609020204030204" pitchFamily="49" charset="0"/>
              </a:rPr>
              <a:t>UseVoucherAndZipFiles</a:t>
            </a:r>
            <a:r>
              <a:rPr lang="en-US" sz="1600" dirty="0">
                <a:latin typeface="Consolas" panose="020B0609020204030204" pitchFamily="49" charset="0"/>
              </a:rPr>
              <a:t> = false });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w.UseFileStore</a:t>
            </a:r>
            <a:r>
              <a:rPr lang="en-US" sz="1600" dirty="0">
                <a:latin typeface="Consolas" panose="020B0609020204030204" pitchFamily="49" charset="0"/>
              </a:rPr>
              <a:t>(new </a:t>
            </a:r>
            <a:r>
              <a:rPr lang="en-US" sz="1600" dirty="0" err="1">
                <a:latin typeface="Consolas" panose="020B0609020204030204" pitchFamily="49" charset="0"/>
              </a:rPr>
              <a:t>ShowcaseFluentStorageFileStore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personStorage</a:t>
            </a:r>
            <a:r>
              <a:rPr lang="en-US" sz="1600" dirty="0">
                <a:latin typeface="Consolas" panose="020B0609020204030204" pitchFamily="49" charset="0"/>
              </a:rPr>
              <a:t>,  </a:t>
            </a:r>
            <a:r>
              <a:rPr lang="en-US" sz="1600" dirty="0" err="1">
                <a:latin typeface="Consolas" panose="020B0609020204030204" pitchFamily="49" charset="0"/>
              </a:rPr>
              <a:t>options.CbssPersonsDir</a:t>
            </a:r>
            <a:r>
              <a:rPr lang="en-US" sz="1600" dirty="0">
                <a:latin typeface="Consolas" panose="020B0609020204030204" pitchFamily="49" charset="0"/>
              </a:rPr>
              <a:t>));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w.UseRemoteFileStore</a:t>
            </a:r>
            <a:r>
              <a:rPr lang="en-US" sz="1600" dirty="0">
                <a:latin typeface="Consolas" panose="020B0609020204030204" pitchFamily="49" charset="0"/>
              </a:rPr>
              <a:t>(new </a:t>
            </a:r>
            <a:r>
              <a:rPr lang="en-US" sz="1600" dirty="0" err="1">
                <a:latin typeface="Consolas" panose="020B0609020204030204" pitchFamily="49" charset="0"/>
              </a:rPr>
              <a:t>ShowcaseFluentStorageRemoteFileStore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personFtp</a:t>
            </a:r>
            <a:r>
              <a:rPr lang="en-US" sz="1600" dirty="0">
                <a:latin typeface="Consolas" panose="020B0609020204030204" pitchFamily="49" charset="0"/>
              </a:rPr>
              <a:t>, $"{</a:t>
            </a:r>
            <a:r>
              <a:rPr lang="en-US" sz="1600" dirty="0" err="1">
                <a:latin typeface="Consolas" panose="020B0609020204030204" pitchFamily="49" charset="0"/>
              </a:rPr>
              <a:t>options.Basedir</a:t>
            </a:r>
            <a:r>
              <a:rPr lang="en-US" sz="1600" dirty="0">
                <a:latin typeface="Consolas" panose="020B0609020204030204" pitchFamily="49" charset="0"/>
              </a:rPr>
              <a:t>}/</a:t>
            </a:r>
            <a:r>
              <a:rPr lang="en-US" sz="1600" dirty="0" err="1">
                <a:latin typeface="Consolas" panose="020B0609020204030204" pitchFamily="49" charset="0"/>
              </a:rPr>
              <a:t>cbsspersons</a:t>
            </a:r>
            <a:r>
              <a:rPr lang="en-US" sz="1600" dirty="0">
                <a:latin typeface="Consolas" panose="020B0609020204030204" pitchFamily="49" charset="0"/>
              </a:rPr>
              <a:t>"));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</a:rPr>
              <a:t>w.UseListener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BricksCbssPersonUpdatedNotification</a:t>
            </a:r>
            <a:r>
              <a:rPr lang="en-US" sz="1600" dirty="0">
                <a:latin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</a:rPr>
              <a:t>MyCbssPersonUpdatedListener</a:t>
            </a:r>
            <a:r>
              <a:rPr lang="en-US" sz="1600" dirty="0">
                <a:latin typeface="Consolas" panose="020B0609020204030204" pitchFamily="49" charset="0"/>
              </a:rPr>
              <a:t>&gt;();</a:t>
            </a:r>
            <a:r>
              <a:rPr lang="en-BE" sz="1600" dirty="0">
                <a:latin typeface="Consolas" panose="020B0609020204030204" pitchFamily="49" charset="0"/>
              </a:rPr>
              <a:t> </a:t>
            </a:r>
            <a:endParaRPr lang="en-US" sz="1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BE" sz="1600" dirty="0">
                <a:latin typeface="Consolas" panose="020B0609020204030204" pitchFamily="49" charset="0"/>
              </a:rPr>
              <a:t>})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.</a:t>
            </a:r>
            <a:r>
              <a:rPr lang="en-US" sz="1600" dirty="0" err="1">
                <a:latin typeface="Consolas" panose="020B0609020204030204" pitchFamily="49" charset="0"/>
              </a:rPr>
              <a:t>UseDefaultBricksJobService</a:t>
            </a:r>
            <a:r>
              <a:rPr lang="en-US" sz="16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    .</a:t>
            </a:r>
            <a:r>
              <a:rPr lang="en-US" sz="1600" dirty="0" err="1">
                <a:latin typeface="Consolas" panose="020B0609020204030204" pitchFamily="49" charset="0"/>
              </a:rPr>
              <a:t>UseDbContext</a:t>
            </a:r>
            <a:r>
              <a:rPr lang="en-US" sz="1600" dirty="0"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latin typeface="Consolas" panose="020B0609020204030204" pitchFamily="49" charset="0"/>
              </a:rPr>
              <a:t>ShowcaseDbContext</a:t>
            </a:r>
            <a:r>
              <a:rPr lang="en-US" sz="1600" dirty="0">
                <a:latin typeface="Consolas" panose="020B0609020204030204" pitchFamily="49" charset="0"/>
              </a:rPr>
              <a:t>&gt;();</a:t>
            </a:r>
            <a:endParaRPr lang="en-BE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3687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4736-2A24-7498-EC1E-FCEC6358B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Reusable libraries ~ Workshop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79A6C-8067-D2DB-7C7E-A6433AEA5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60462"/>
            <a:ext cx="10515600" cy="13255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600" dirty="0">
                <a:hlinkClick r:id="rId2"/>
              </a:rPr>
              <a:t>https://github.com/casperdon/Bricks-Workshop</a:t>
            </a:r>
            <a:endParaRPr lang="en-BE" sz="3600" dirty="0"/>
          </a:p>
        </p:txBody>
      </p:sp>
    </p:spTree>
    <p:extLst>
      <p:ext uri="{BB962C8B-B14F-4D97-AF65-F5344CB8AC3E}">
        <p14:creationId xmlns:p14="http://schemas.microsoft.com/office/powerpoint/2010/main" val="505576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1302088-aa92-48c6-bbf3-927bf74cf8aa}" enabled="1" method="Standard" siteId="{42151053-0193-47aa-9e81-effd81f772c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</Words>
  <Application>Microsoft Office PowerPoint</Application>
  <PresentationFormat>Widescreen</PresentationFormat>
  <Paragraphs>63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Consolas</vt:lpstr>
      <vt:lpstr>Office Theme</vt:lpstr>
      <vt:lpstr>Don’t Reinvent the Brick</vt:lpstr>
      <vt:lpstr>PowerPoint Presentation</vt:lpstr>
      <vt:lpstr>Reusable libraries ~ CBSS Person Brick</vt:lpstr>
      <vt:lpstr>Reusable libraries ~ CBSS Person Brick</vt:lpstr>
      <vt:lpstr>Reusable libraries ~ Workshop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Boon</dc:creator>
  <cp:lastModifiedBy>Tom Boon</cp:lastModifiedBy>
  <cp:revision>7</cp:revision>
  <dcterms:created xsi:type="dcterms:W3CDTF">2026-03-09T14:24:11Z</dcterms:created>
  <dcterms:modified xsi:type="dcterms:W3CDTF">2026-03-10T07:01:30Z</dcterms:modified>
</cp:coreProperties>
</file>